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handoutMasterIdLst>
    <p:handoutMasterId r:id="rId4"/>
  </p:handoutMasterIdLst>
  <p:sldIdLst>
    <p:sldId id="257" r:id="rId2"/>
  </p:sldIdLst>
  <p:sldSz cx="43891200" cy="329184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00B0EA"/>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22" autoAdjust="0"/>
    <p:restoredTop sz="94632" autoAdjust="0"/>
  </p:normalViewPr>
  <p:slideViewPr>
    <p:cSldViewPr snapToGrid="0">
      <p:cViewPr varScale="1">
        <p:scale>
          <a:sx n="20" d="100"/>
          <a:sy n="20" d="100"/>
        </p:scale>
        <p:origin x="902" y="53"/>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65" d="100"/>
          <a:sy n="65" d="100"/>
        </p:scale>
        <p:origin x="2796"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C0B079-A316-4C9B-B165-DF9EA8325D2C}" type="datetimeFigureOut">
              <a:rPr lang="en-US" smtClean="0"/>
              <a:t>6/14/2026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A0EAE6-B4B6-49B7-9049-B371250BE0F4}" type="slidenum">
              <a:rPr lang="en-US" smtClean="0"/>
              <a:t>‹#›</a:t>
            </a:fld>
            <a:endParaRPr lang="en-US"/>
          </a:p>
        </p:txBody>
      </p:sp>
    </p:spTree>
    <p:extLst>
      <p:ext uri="{BB962C8B-B14F-4D97-AF65-F5344CB8AC3E}">
        <p14:creationId xmlns:p14="http://schemas.microsoft.com/office/powerpoint/2010/main" val="1472466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F28AB8-57D1-494F-9851-055AD867E790}" type="datetimeFigureOut">
              <a:rPr lang="en-US" smtClean="0"/>
              <a:t>6/14/2026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7F044-5458-4B2E-BFA0-52AAA1C529D4}" type="slidenum">
              <a:rPr lang="en-US" smtClean="0"/>
              <a:t>‹#›</a:t>
            </a:fld>
            <a:endParaRPr lang="en-US"/>
          </a:p>
        </p:txBody>
      </p:sp>
    </p:spTree>
    <p:extLst>
      <p:ext uri="{BB962C8B-B14F-4D97-AF65-F5344CB8AC3E}">
        <p14:creationId xmlns:p14="http://schemas.microsoft.com/office/powerpoint/2010/main" val="1624808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7C7F044-5458-4B2E-BFA0-52AAA1C529D4}" type="slidenum">
              <a:rPr lang="en-US" smtClean="0"/>
              <a:t>1</a:t>
            </a:fld>
            <a:endParaRPr lang="en-US"/>
          </a:p>
        </p:txBody>
      </p:sp>
    </p:spTree>
    <p:extLst>
      <p:ext uri="{BB962C8B-B14F-4D97-AF65-F5344CB8AC3E}">
        <p14:creationId xmlns:p14="http://schemas.microsoft.com/office/powerpoint/2010/main" val="21835059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ter">
    <p:spTree>
      <p:nvGrpSpPr>
        <p:cNvPr id="1" name=""/>
        <p:cNvGrpSpPr/>
        <p:nvPr/>
      </p:nvGrpSpPr>
      <p:grpSpPr>
        <a:xfrm>
          <a:off x="0" y="0"/>
          <a:ext cx="0" cy="0"/>
          <a:chOff x="0" y="0"/>
          <a:chExt cx="0" cy="0"/>
        </a:xfrm>
      </p:grpSpPr>
      <p:sp>
        <p:nvSpPr>
          <p:cNvPr id="6" name="Title 5"/>
          <p:cNvSpPr>
            <a:spLocks noGrp="1"/>
          </p:cNvSpPr>
          <p:nvPr>
            <p:ph type="title"/>
          </p:nvPr>
        </p:nvSpPr>
        <p:spPr>
          <a:xfrm>
            <a:off x="1158240" y="685860"/>
            <a:ext cx="30175200" cy="2971740"/>
          </a:xfrm>
          <a:prstGeom prst="rect">
            <a:avLst/>
          </a:prstGeom>
        </p:spPr>
        <p:txBody>
          <a:bodyPr/>
          <a:lstStyle/>
          <a:p>
            <a:r>
              <a:rPr lang="en-US"/>
              <a:t>Click to edit Master title style</a:t>
            </a:r>
          </a:p>
        </p:txBody>
      </p:sp>
      <p:sp>
        <p:nvSpPr>
          <p:cNvPr id="31" name="Text Placeholder 6"/>
          <p:cNvSpPr>
            <a:spLocks noGrp="1"/>
          </p:cNvSpPr>
          <p:nvPr>
            <p:ph type="body" sz="quarter" idx="36"/>
          </p:nvPr>
        </p:nvSpPr>
        <p:spPr bwMode="auto">
          <a:xfrm>
            <a:off x="1158240" y="4093905"/>
            <a:ext cx="30174412" cy="646331"/>
          </a:xfrm>
          <a:prstGeom prst="rect">
            <a:avLst/>
          </a:prstGeom>
        </p:spPr>
        <p:txBody>
          <a:bodyPr anchor="ctr">
            <a:noAutofit/>
          </a:bodyPr>
          <a:lstStyle>
            <a:lvl1pPr marL="0" indent="0">
              <a:spcBef>
                <a:spcPts val="0"/>
              </a:spcBef>
              <a:buNone/>
              <a:defRPr sz="3600">
                <a:solidFill>
                  <a:schemeClr val="bg1">
                    <a:lumMod val="75000"/>
                  </a:schemeClr>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a:t>Click to edit Master text styles</a:t>
            </a:r>
          </a:p>
        </p:txBody>
      </p:sp>
      <p:sp>
        <p:nvSpPr>
          <p:cNvPr id="7" name="Text Placeholder 6"/>
          <p:cNvSpPr>
            <a:spLocks noGrp="1"/>
          </p:cNvSpPr>
          <p:nvPr>
            <p:ph type="body" sz="quarter" idx="13" hasCustomPrompt="1"/>
          </p:nvPr>
        </p:nvSpPr>
        <p:spPr>
          <a:xfrm>
            <a:off x="1143000" y="5669280"/>
            <a:ext cx="12801600" cy="128016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9" name="Text Placeholder 8"/>
          <p:cNvSpPr>
            <a:spLocks noGrp="1"/>
          </p:cNvSpPr>
          <p:nvPr>
            <p:ph type="body" sz="quarter" idx="39" hasCustomPrompt="1"/>
          </p:nvPr>
        </p:nvSpPr>
        <p:spPr bwMode="ltGray">
          <a:xfrm>
            <a:off x="1143000" y="7114032"/>
            <a:ext cx="12801600" cy="2732574"/>
          </a:xfrm>
          <a:prstGeom prst="rect">
            <a:avLst/>
          </a:prstGeom>
          <a:solidFill>
            <a:schemeClr val="tx2">
              <a:lumMod val="10000"/>
              <a:lumOff val="90000"/>
            </a:schemeClr>
          </a:solidFill>
        </p:spPr>
        <p:txBody>
          <a:bodyPr lIns="365760" rIns="365760" anchor="ctr">
            <a:noAutofit/>
          </a:bodyPr>
          <a:lstStyle>
            <a:lvl1pPr marL="0" indent="0">
              <a:spcBef>
                <a:spcPts val="1200"/>
              </a:spcBef>
              <a:buFont typeface="Arial" panose="020B0604020202020204" pitchFamily="34" charset="0"/>
              <a:buNone/>
              <a:defRPr sz="4400" baseline="0"/>
            </a:lvl1pPr>
            <a:lvl2pPr marL="571500" indent="-571500">
              <a:spcBef>
                <a:spcPts val="1200"/>
              </a:spcBef>
              <a:buFont typeface="Arial" panose="020B0604020202020204" pitchFamily="34" charset="0"/>
              <a:buChar char="•"/>
              <a:defRPr sz="4400"/>
            </a:lvl2pPr>
            <a:lvl3pPr marL="571500" indent="-571500">
              <a:spcBef>
                <a:spcPts val="1200"/>
              </a:spcBef>
              <a:buFont typeface="Arial" panose="020B0604020202020204" pitchFamily="34" charset="0"/>
              <a:buChar char="•"/>
              <a:defRPr sz="4400"/>
            </a:lvl3pPr>
            <a:lvl4pPr marL="0" indent="0">
              <a:spcBef>
                <a:spcPts val="1200"/>
              </a:spcBef>
              <a:buNone/>
              <a:defRPr sz="4400"/>
            </a:lvl4pPr>
            <a:lvl5pPr marL="0" indent="0">
              <a:spcBef>
                <a:spcPts val="1200"/>
              </a:spcBef>
              <a:buNone/>
              <a:defRPr sz="4400"/>
            </a:lvl5pPr>
            <a:lvl6pPr marL="0" indent="0">
              <a:spcBef>
                <a:spcPts val="1200"/>
              </a:spcBef>
              <a:buNone/>
              <a:defRPr sz="4400"/>
            </a:lvl6pPr>
            <a:lvl7pPr marL="0" indent="0">
              <a:spcBef>
                <a:spcPts val="1200"/>
              </a:spcBef>
              <a:buNone/>
              <a:defRPr sz="4400"/>
            </a:lvl7pPr>
            <a:lvl8pPr marL="0" indent="0">
              <a:spcBef>
                <a:spcPts val="1200"/>
              </a:spcBef>
              <a:buNone/>
              <a:defRPr sz="4400"/>
            </a:lvl8pPr>
            <a:lvl9pPr marL="0" indent="0">
              <a:spcBef>
                <a:spcPts val="1200"/>
              </a:spcBef>
              <a:buNone/>
              <a:defRPr sz="4400"/>
            </a:lvl9pPr>
          </a:lstStyle>
          <a:p>
            <a:pPr lvl="0"/>
            <a:r>
              <a:rPr lang="en-US" dirty="0"/>
              <a:t>Add your question or a statement of the problem here</a:t>
            </a:r>
          </a:p>
        </p:txBody>
      </p:sp>
      <p:sp>
        <p:nvSpPr>
          <p:cNvPr id="36" name="Text Placeholder 6"/>
          <p:cNvSpPr>
            <a:spLocks noGrp="1"/>
          </p:cNvSpPr>
          <p:nvPr>
            <p:ph type="body" sz="quarter" idx="37" hasCustomPrompt="1"/>
          </p:nvPr>
        </p:nvSpPr>
        <p:spPr>
          <a:xfrm>
            <a:off x="1143000" y="10497312"/>
            <a:ext cx="12801600" cy="128016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37" name="Content Placeholder 17"/>
          <p:cNvSpPr>
            <a:spLocks noGrp="1"/>
          </p:cNvSpPr>
          <p:nvPr>
            <p:ph sz="quarter" idx="38" hasCustomPrompt="1"/>
          </p:nvPr>
        </p:nvSpPr>
        <p:spPr>
          <a:xfrm>
            <a:off x="1143000" y="11868912"/>
            <a:ext cx="12801600" cy="2807506"/>
          </a:xfrm>
          <a:prstGeom prst="rect">
            <a:avLst/>
          </a:prstGeo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11" name="Text Placeholder 6"/>
          <p:cNvSpPr>
            <a:spLocks noGrp="1"/>
          </p:cNvSpPr>
          <p:nvPr>
            <p:ph type="body" sz="quarter" idx="17" hasCustomPrompt="1"/>
          </p:nvPr>
        </p:nvSpPr>
        <p:spPr>
          <a:xfrm>
            <a:off x="1143000" y="1495044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0" name="Content Placeholder 17"/>
          <p:cNvSpPr>
            <a:spLocks noGrp="1"/>
          </p:cNvSpPr>
          <p:nvPr>
            <p:ph sz="quarter" idx="25" hasCustomPrompt="1"/>
          </p:nvPr>
        </p:nvSpPr>
        <p:spPr>
          <a:xfrm>
            <a:off x="1143000" y="16440912"/>
            <a:ext cx="12801600" cy="6027461"/>
          </a:xfrm>
          <a:prstGeom prst="rect">
            <a:avLst/>
          </a:prstGeo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3" name="Text Placeholder 6"/>
          <p:cNvSpPr>
            <a:spLocks noGrp="1"/>
          </p:cNvSpPr>
          <p:nvPr>
            <p:ph type="body" sz="quarter" idx="19" hasCustomPrompt="1"/>
          </p:nvPr>
        </p:nvSpPr>
        <p:spPr>
          <a:xfrm>
            <a:off x="1143000" y="2288743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1" name="Content Placeholder 17"/>
          <p:cNvSpPr>
            <a:spLocks noGrp="1"/>
          </p:cNvSpPr>
          <p:nvPr>
            <p:ph sz="quarter" idx="26" hasCustomPrompt="1"/>
          </p:nvPr>
        </p:nvSpPr>
        <p:spPr>
          <a:xfrm>
            <a:off x="1143000" y="24332184"/>
            <a:ext cx="12801600" cy="7296912"/>
          </a:xfrm>
          <a:prstGeom prst="rect">
            <a:avLst/>
          </a:prstGeo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5" name="Text Placeholder 6"/>
          <p:cNvSpPr>
            <a:spLocks noGrp="1"/>
          </p:cNvSpPr>
          <p:nvPr>
            <p:ph type="body" sz="quarter" idx="21" hasCustomPrompt="1"/>
          </p:nvPr>
        </p:nvSpPr>
        <p:spPr>
          <a:xfrm>
            <a:off x="15544800" y="566928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2" name="Content Placeholder 17"/>
          <p:cNvSpPr>
            <a:spLocks noGrp="1"/>
          </p:cNvSpPr>
          <p:nvPr>
            <p:ph sz="quarter" idx="27" hasCustomPrompt="1"/>
          </p:nvPr>
        </p:nvSpPr>
        <p:spPr>
          <a:xfrm>
            <a:off x="15544800" y="7114032"/>
            <a:ext cx="12801600" cy="6795556"/>
          </a:xfrm>
          <a:prstGeom prst="rect">
            <a:avLst/>
          </a:prstGeo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38" name="Text Placeholder 6"/>
          <p:cNvSpPr>
            <a:spLocks noGrp="1"/>
          </p:cNvSpPr>
          <p:nvPr>
            <p:ph type="body" sz="quarter" idx="40" hasCustomPrompt="1"/>
          </p:nvPr>
        </p:nvSpPr>
        <p:spPr>
          <a:xfrm>
            <a:off x="15544800" y="14328648"/>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18" name="Content Placeholder 17"/>
          <p:cNvSpPr>
            <a:spLocks noGrp="1"/>
          </p:cNvSpPr>
          <p:nvPr>
            <p:ph sz="quarter" idx="23" hasCustomPrompt="1"/>
          </p:nvPr>
        </p:nvSpPr>
        <p:spPr>
          <a:xfrm>
            <a:off x="15544800" y="15773399"/>
            <a:ext cx="12801600" cy="6694973"/>
          </a:xfrm>
          <a:prstGeom prst="rect">
            <a:avLst/>
          </a:prstGeo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4" name="Text Placeholder 6"/>
          <p:cNvSpPr>
            <a:spLocks noGrp="1"/>
          </p:cNvSpPr>
          <p:nvPr>
            <p:ph type="body" sz="quarter" idx="29" hasCustomPrompt="1"/>
          </p:nvPr>
        </p:nvSpPr>
        <p:spPr>
          <a:xfrm>
            <a:off x="15544800" y="2288743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5" name="Content Placeholder 17"/>
          <p:cNvSpPr>
            <a:spLocks noGrp="1"/>
          </p:cNvSpPr>
          <p:nvPr>
            <p:ph sz="quarter" idx="30" hasCustomPrompt="1"/>
          </p:nvPr>
        </p:nvSpPr>
        <p:spPr>
          <a:xfrm>
            <a:off x="15544800" y="24332184"/>
            <a:ext cx="12801600" cy="7296912"/>
          </a:xfrm>
          <a:prstGeom prst="rect">
            <a:avLst/>
          </a:prstGeo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6" name="Text Placeholder 6"/>
          <p:cNvSpPr>
            <a:spLocks noGrp="1"/>
          </p:cNvSpPr>
          <p:nvPr>
            <p:ph type="body" sz="quarter" idx="31" hasCustomPrompt="1"/>
          </p:nvPr>
        </p:nvSpPr>
        <p:spPr>
          <a:xfrm>
            <a:off x="29900880" y="566928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7" name="Content Placeholder 17"/>
          <p:cNvSpPr>
            <a:spLocks noGrp="1"/>
          </p:cNvSpPr>
          <p:nvPr>
            <p:ph sz="quarter" idx="32" hasCustomPrompt="1"/>
          </p:nvPr>
        </p:nvSpPr>
        <p:spPr>
          <a:xfrm>
            <a:off x="29900880" y="7114032"/>
            <a:ext cx="12801600" cy="7315200"/>
          </a:xfrm>
          <a:prstGeom prst="rect">
            <a:avLst/>
          </a:prstGeo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8" name="Content Placeholder 17"/>
          <p:cNvSpPr>
            <a:spLocks noGrp="1"/>
          </p:cNvSpPr>
          <p:nvPr>
            <p:ph sz="quarter" idx="33" hasCustomPrompt="1"/>
          </p:nvPr>
        </p:nvSpPr>
        <p:spPr>
          <a:xfrm>
            <a:off x="29900880" y="14914834"/>
            <a:ext cx="12801600" cy="4538610"/>
          </a:xfrm>
          <a:prstGeom prst="rect">
            <a:avLst/>
          </a:prstGeo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39" name="Text Placeholder 6"/>
          <p:cNvSpPr>
            <a:spLocks noGrp="1"/>
          </p:cNvSpPr>
          <p:nvPr>
            <p:ph type="body" sz="quarter" idx="41" hasCustomPrompt="1"/>
          </p:nvPr>
        </p:nvSpPr>
        <p:spPr>
          <a:xfrm>
            <a:off x="29900880" y="19767596"/>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40" name="Content Placeholder 17"/>
          <p:cNvSpPr>
            <a:spLocks noGrp="1"/>
          </p:cNvSpPr>
          <p:nvPr>
            <p:ph sz="quarter" idx="42" hasCustomPrompt="1"/>
          </p:nvPr>
        </p:nvSpPr>
        <p:spPr>
          <a:xfrm>
            <a:off x="29900880" y="21212348"/>
            <a:ext cx="12801600" cy="4344786"/>
          </a:xfrm>
          <a:prstGeom prst="rect">
            <a:avLst/>
          </a:prstGeo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29" name="Text Placeholder 6"/>
          <p:cNvSpPr>
            <a:spLocks noGrp="1"/>
          </p:cNvSpPr>
          <p:nvPr>
            <p:ph type="body" sz="quarter" idx="34" hasCustomPrompt="1"/>
          </p:nvPr>
        </p:nvSpPr>
        <p:spPr>
          <a:xfrm>
            <a:off x="29900880" y="2572207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30" name="Content Placeholder 17"/>
          <p:cNvSpPr>
            <a:spLocks noGrp="1"/>
          </p:cNvSpPr>
          <p:nvPr>
            <p:ph sz="quarter" idx="35" hasCustomPrompt="1"/>
          </p:nvPr>
        </p:nvSpPr>
        <p:spPr>
          <a:xfrm>
            <a:off x="29900880" y="27166824"/>
            <a:ext cx="12801600" cy="4462272"/>
          </a:xfrm>
          <a:prstGeom prst="rect">
            <a:avLst/>
          </a:prstGeo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p:txBody>
      </p:sp>
      <p:sp>
        <p:nvSpPr>
          <p:cNvPr id="3" name="Date Placeholder 2"/>
          <p:cNvSpPr>
            <a:spLocks noGrp="1"/>
          </p:cNvSpPr>
          <p:nvPr>
            <p:ph type="dt" sz="half" idx="10"/>
          </p:nvPr>
        </p:nvSpPr>
        <p:spPr>
          <a:xfrm>
            <a:off x="1143000" y="32114698"/>
            <a:ext cx="9875520" cy="457200"/>
          </a:xfrm>
          <a:prstGeom prst="rect">
            <a:avLst/>
          </a:prstGeom>
        </p:spPr>
        <p:txBody>
          <a:bodyPr/>
          <a:lstStyle/>
          <a:p>
            <a:fld id="{ECAA57DF-1C19-4726-AB84-014692BAD8F5}" type="datetimeFigureOut">
              <a:rPr lang="en-US" smtClean="0"/>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B4C631-C489-4C11-812F-2172FBEAE82B}" type="slidenum">
              <a:rPr lang="en-US" smtClean="0"/>
              <a:t>‹#›</a:t>
            </a:fld>
            <a:endParaRPr lang="en-US"/>
          </a:p>
        </p:txBody>
      </p:sp>
      <p:sp>
        <p:nvSpPr>
          <p:cNvPr id="8" name="Picture Placeholder 7"/>
          <p:cNvSpPr>
            <a:spLocks noGrp="1"/>
          </p:cNvSpPr>
          <p:nvPr>
            <p:ph type="pic" sz="quarter" idx="43"/>
          </p:nvPr>
        </p:nvSpPr>
        <p:spPr>
          <a:xfrm>
            <a:off x="32270700" y="0"/>
            <a:ext cx="11620500" cy="3842445"/>
          </a:xfrm>
          <a:prstGeom prst="rect">
            <a:avLst/>
          </a:prstGeom>
          <a:effectDag name="">
            <a:cont type="tree" name="">
              <a:effect ref="fillLine"/>
              <a:alphaMod>
                <a:cont name="">
                  <a:fill>
                    <a:gradFill>
                      <a:gsLst>
                        <a:gs pos="60000">
                          <a:srgbClr val="000000">
                            <a:alpha val="100000"/>
                          </a:srgbClr>
                        </a:gs>
                        <a:gs pos="97000">
                          <a:srgbClr val="000000">
                            <a:alpha val="0"/>
                          </a:srgbClr>
                        </a:gs>
                      </a:gsLst>
                      <a:lin ang="10800000"/>
                    </a:gradFill>
                  </a:fill>
                </a:cont>
              </a:alphaMod>
            </a:cont>
          </a:effectDag>
        </p:spPr>
        <p:txBody>
          <a:bodyPr lIns="91440" tIns="457200" rIns="91440"/>
          <a:lstStyle>
            <a:lvl1pPr marL="0" indent="0"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45907722"/>
      </p:ext>
    </p:extLst>
  </p:cSld>
  <p:clrMapOvr>
    <a:masterClrMapping/>
  </p:clrMapOvr>
  <p:extLst>
    <p:ext uri="{DCECCB84-F9BA-43D5-87BE-67443E8EF086}">
      <p15:sldGuideLst xmlns:p15="http://schemas.microsoft.com/office/powerpoint/2012/main">
        <p15:guide id="1" pos="9168" userDrawn="1">
          <p15:clr>
            <a:srgbClr val="A4A3A4"/>
          </p15:clr>
        </p15:guide>
        <p15:guide id="2" pos="18480" userDrawn="1">
          <p15:clr>
            <a:srgbClr val="A4A3A4"/>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bwMode="ltGray">
          <a:xfrm>
            <a:off x="0" y="0"/>
            <a:ext cx="43891200" cy="5029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3"/>
          </p:nvPr>
        </p:nvSpPr>
        <p:spPr>
          <a:xfrm>
            <a:off x="11018520" y="32114698"/>
            <a:ext cx="21854160" cy="457200"/>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2872680" y="32114698"/>
            <a:ext cx="9875520" cy="457200"/>
          </a:xfrm>
          <a:prstGeom prst="rect">
            <a:avLst/>
          </a:prstGeom>
        </p:spPr>
        <p:txBody>
          <a:bodyPr vert="horz" lIns="91440" tIns="45720" rIns="91440" bIns="45720" rtlCol="0" anchor="ctr"/>
          <a:lstStyle>
            <a:lvl1pPr algn="r">
              <a:defRPr sz="1600">
                <a:solidFill>
                  <a:schemeClr val="tx1">
                    <a:tint val="75000"/>
                  </a:schemeClr>
                </a:solidFill>
              </a:defRPr>
            </a:lvl1pPr>
          </a:lstStyle>
          <a:p>
            <a:fld id="{91B4C631-C489-4C11-812F-2172FBEAE82B}" type="slidenum">
              <a:rPr lang="en-US" smtClean="0"/>
              <a:pPr/>
              <a:t>‹#›</a:t>
            </a:fld>
            <a:endParaRPr lang="en-US"/>
          </a:p>
        </p:txBody>
      </p:sp>
      <p:sp>
        <p:nvSpPr>
          <p:cNvPr id="8" name="Rectangle 7"/>
          <p:cNvSpPr/>
          <p:nvPr userDrawn="1"/>
        </p:nvSpPr>
        <p:spPr bwMode="gray">
          <a:xfrm>
            <a:off x="0" y="3886200"/>
            <a:ext cx="43891200" cy="1143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userDrawn="1"/>
        </p:nvCxnSpPr>
        <p:spPr>
          <a:xfrm>
            <a:off x="0" y="3886200"/>
            <a:ext cx="43891200" cy="0"/>
          </a:xfrm>
          <a:prstGeom prst="line">
            <a:avLst/>
          </a:prstGeom>
          <a:ln w="114300">
            <a:miter lim="800000"/>
          </a:ln>
        </p:spPr>
        <p:style>
          <a:lnRef idx="1">
            <a:schemeClr val="accent1"/>
          </a:lnRef>
          <a:fillRef idx="0">
            <a:schemeClr val="accent1"/>
          </a:fillRef>
          <a:effectRef idx="0">
            <a:schemeClr val="accent1"/>
          </a:effectRef>
          <a:fontRef idx="minor">
            <a:schemeClr val="tx1"/>
          </a:fontRef>
        </p:style>
      </p:cxnSp>
      <p:sp>
        <p:nvSpPr>
          <p:cNvPr id="10" name="MSIPCMContentMarking" descr="{&quot;HashCode&quot;:-382682671,&quot;Placement&quot;:&quot;Header&quot;,&quot;Top&quot;:0.0,&quot;Left&quot;:1665.08691,&quot;SlideWidth&quot;:3456,&quot;SlideHeight&quot;:2592}"/>
          <p:cNvSpPr txBox="1"/>
          <p:nvPr userDrawn="1"/>
        </p:nvSpPr>
        <p:spPr>
          <a:xfrm>
            <a:off x="21146604" y="0"/>
            <a:ext cx="1597994" cy="262344"/>
          </a:xfrm>
          <a:prstGeom prst="rect">
            <a:avLst/>
          </a:prstGeom>
          <a:noFill/>
        </p:spPr>
        <p:txBody>
          <a:bodyPr vert="horz" wrap="square" lIns="0" tIns="0" rIns="0" bIns="0" rtlCol="0" anchor="ctr" anchorCtr="1">
            <a:spAutoFit/>
          </a:bodyPr>
          <a:lstStyle/>
          <a:p>
            <a:pPr algn="ctr">
              <a:spcBef>
                <a:spcPts val="0"/>
              </a:spcBef>
              <a:spcAft>
                <a:spcPts val="0"/>
              </a:spcAft>
            </a:pPr>
            <a:r>
              <a:rPr lang="en-SG" sz="1000">
                <a:solidFill>
                  <a:srgbClr val="000000"/>
                </a:solidFill>
                <a:latin typeface="Calibri" panose="020F0502020204030204" pitchFamily="34" charset="0"/>
              </a:rPr>
              <a:t>Restricted, Non-Sensitive</a:t>
            </a:r>
            <a:endParaRPr lang="en-SG" sz="1000" dirty="0" err="1">
              <a:solidFill>
                <a:srgbClr val="000000"/>
              </a:solidFill>
              <a:latin typeface="Calibri" panose="020F0502020204030204" pitchFamily="34" charset="0"/>
            </a:endParaRPr>
          </a:p>
        </p:txBody>
      </p:sp>
      <p:grpSp>
        <p:nvGrpSpPr>
          <p:cNvPr id="11" name="Group 10"/>
          <p:cNvGrpSpPr/>
          <p:nvPr userDrawn="1"/>
        </p:nvGrpSpPr>
        <p:grpSpPr>
          <a:xfrm>
            <a:off x="1084580" y="29636412"/>
            <a:ext cx="41605200" cy="3119074"/>
            <a:chOff x="1084580" y="24671487"/>
            <a:chExt cx="41605200" cy="3119074"/>
          </a:xfrm>
        </p:grpSpPr>
        <p:sp>
          <p:nvSpPr>
            <p:cNvPr id="12" name="Rectangle 11"/>
            <p:cNvSpPr/>
            <p:nvPr/>
          </p:nvSpPr>
          <p:spPr>
            <a:xfrm>
              <a:off x="1143000" y="24671487"/>
              <a:ext cx="41546780" cy="2824788"/>
            </a:xfrm>
            <a:prstGeom prst="rect">
              <a:avLst/>
            </a:prstGeom>
            <a:solidFill>
              <a:srgbClr val="595959"/>
            </a:solidFill>
            <a:ln>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6000" dirty="0" err="1"/>
            </a:p>
          </p:txBody>
        </p:sp>
        <p:sp>
          <p:nvSpPr>
            <p:cNvPr id="13" name="Rectangle 12"/>
            <p:cNvSpPr/>
            <p:nvPr/>
          </p:nvSpPr>
          <p:spPr>
            <a:xfrm>
              <a:off x="1084580" y="27453917"/>
              <a:ext cx="41546780" cy="336644"/>
            </a:xfrm>
            <a:prstGeom prst="rect">
              <a:avLst/>
            </a:prstGeom>
            <a:solidFill>
              <a:srgbClr val="00B0EA"/>
            </a:solidFill>
            <a:ln>
              <a:solidFill>
                <a:srgbClr val="00B0E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6000" dirty="0" err="1"/>
            </a:p>
          </p:txBody>
        </p:sp>
      </p:grpSp>
      <p:pic>
        <p:nvPicPr>
          <p:cNvPr id="30" name="Picture 29"/>
          <p:cNvPicPr>
            <a:picLocks noChangeAspect="1"/>
          </p:cNvPicPr>
          <p:nvPr userDrawn="1"/>
        </p:nvPicPr>
        <p:blipFill rotWithShape="1">
          <a:blip r:embed="rId3" cstate="print">
            <a:extLst>
              <a:ext uri="{28A0092B-C50C-407E-A947-70E740481C1C}">
                <a14:useLocalDpi xmlns:a14="http://schemas.microsoft.com/office/drawing/2010/main" val="0"/>
              </a:ext>
            </a:extLst>
          </a:blip>
          <a:srcRect l="14012" t="24514" r="15030" b="23243"/>
          <a:stretch/>
        </p:blipFill>
        <p:spPr>
          <a:xfrm>
            <a:off x="34455100" y="30175200"/>
            <a:ext cx="7239000" cy="1625600"/>
          </a:xfrm>
          <a:prstGeom prst="rect">
            <a:avLst/>
          </a:prstGeom>
        </p:spPr>
      </p:pic>
      <p:pic>
        <p:nvPicPr>
          <p:cNvPr id="31" name="Picture 2" descr="16th International CDIO Conference, hosted on-line by Chalmers University  of Technology"/>
          <p:cNvPicPr>
            <a:picLocks noChangeAspect="1" noChangeArrowheads="1"/>
          </p:cNvPicPr>
          <p:nvPr userDrawn="1"/>
        </p:nvPicPr>
        <p:blipFill>
          <a:blip r:embed="rId4">
            <a:extLst>
              <a:ext uri="{BEBA8EAE-BF5A-486C-A8C5-ECC9F3942E4B}">
                <a14:imgProps xmlns:a14="http://schemas.microsoft.com/office/drawing/2010/main">
                  <a14:imgLayer r:embed="rId5">
                    <a14:imgEffect>
                      <a14:backgroundRemoval t="8025" b="97737" l="3500" r="97800">
                        <a14:foregroundMark x1="19400" y1="71399" x2="19400" y2="71399"/>
                        <a14:foregroundMark x1="17400" y1="20988" x2="17400" y2="20988"/>
                        <a14:foregroundMark x1="42000" y1="19753" x2="42000" y2="19753"/>
                        <a14:foregroundMark x1="60800" y1="21399" x2="60800" y2="21399"/>
                        <a14:foregroundMark x1="79100" y1="21193" x2="79100" y2="21193"/>
                        <a14:foregroundMark x1="79800" y1="62346" x2="79800" y2="62346"/>
                        <a14:foregroundMark x1="80900" y1="59465" x2="80900" y2="59465"/>
                      </a14:backgroundRemoval>
                    </a14:imgEffect>
                  </a14:imgLayer>
                </a14:imgProps>
              </a:ext>
              <a:ext uri="{28A0092B-C50C-407E-A947-70E740481C1C}">
                <a14:useLocalDpi xmlns:a14="http://schemas.microsoft.com/office/drawing/2010/main" val="0"/>
              </a:ext>
            </a:extLst>
          </a:blip>
          <a:srcRect/>
          <a:stretch>
            <a:fillRect/>
          </a:stretch>
        </p:blipFill>
        <p:spPr bwMode="auto">
          <a:xfrm>
            <a:off x="35111891" y="-179452"/>
            <a:ext cx="8779309" cy="4266745"/>
          </a:xfrm>
          <a:prstGeom prst="rect">
            <a:avLst/>
          </a:prstGeom>
          <a:noFill/>
          <a:extLst>
            <a:ext uri="{909E8E84-426E-40DD-AFC4-6F175D3DCCD1}">
              <a14:hiddenFill xmlns:a14="http://schemas.microsoft.com/office/drawing/2010/main">
                <a:solidFill>
                  <a:srgbClr val="FFFFFF"/>
                </a:solidFill>
              </a14:hiddenFill>
            </a:ext>
          </a:extLst>
        </p:spPr>
      </p:pic>
      <p:sp>
        <p:nvSpPr>
          <p:cNvPr id="36" name="Rectangle 35"/>
          <p:cNvSpPr/>
          <p:nvPr userDrawn="1"/>
        </p:nvSpPr>
        <p:spPr>
          <a:xfrm>
            <a:off x="584200" y="244332"/>
            <a:ext cx="17018000" cy="707886"/>
          </a:xfrm>
          <a:prstGeom prst="rect">
            <a:avLst/>
          </a:prstGeom>
        </p:spPr>
        <p:txBody>
          <a:bodyPr wrap="square">
            <a:spAutoFit/>
          </a:bodyPr>
          <a:lstStyle/>
          <a:p>
            <a:r>
              <a:rPr lang="en-SG" sz="4000" dirty="0">
                <a:solidFill>
                  <a:schemeClr val="bg1"/>
                </a:solidFill>
              </a:rPr>
              <a:t> </a:t>
            </a:r>
            <a:r>
              <a:rPr lang="en-US" sz="4000" dirty="0">
                <a:solidFill>
                  <a:schemeClr val="bg1"/>
                </a:solidFill>
              </a:rPr>
              <a:t>ET1015/ET1024 Introduction to Engineering &amp; Design</a:t>
            </a:r>
            <a:endParaRPr lang="en-SG" sz="4000" dirty="0">
              <a:solidFill>
                <a:schemeClr val="bg1"/>
              </a:solidFill>
            </a:endParaRPr>
          </a:p>
        </p:txBody>
      </p:sp>
    </p:spTree>
    <p:extLst>
      <p:ext uri="{BB962C8B-B14F-4D97-AF65-F5344CB8AC3E}">
        <p14:creationId xmlns:p14="http://schemas.microsoft.com/office/powerpoint/2010/main" val="2508807471"/>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4389120" rtl="0" eaLnBrk="1" latinLnBrk="0" hangingPunct="1">
        <a:lnSpc>
          <a:spcPct val="90000"/>
        </a:lnSpc>
        <a:spcBef>
          <a:spcPct val="0"/>
        </a:spcBef>
        <a:buNone/>
        <a:defRPr sz="11500" b="0" kern="1200">
          <a:solidFill>
            <a:schemeClr val="bg1"/>
          </a:solidFill>
          <a:latin typeface="+mj-lt"/>
          <a:ea typeface="+mj-ea"/>
          <a:cs typeface="+mj-cs"/>
        </a:defRPr>
      </a:lvl1pPr>
    </p:titleStyle>
    <p:body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A4A3A4"/>
          </p15:clr>
        </p15:guide>
        <p15:guide id="2" pos="720" userDrawn="1">
          <p15:clr>
            <a:srgbClr val="A4A3A4"/>
          </p15:clr>
        </p15:guide>
        <p15:guide id="3" pos="26928" userDrawn="1">
          <p15:clr>
            <a:srgbClr val="A4A3A4"/>
          </p15:clr>
        </p15:guide>
        <p15:guide id="4" pos="13824" userDrawn="1">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ext Placeholder 66"/>
          <p:cNvSpPr>
            <a:spLocks noGrp="1"/>
          </p:cNvSpPr>
          <p:nvPr>
            <p:ph type="body" sz="quarter" idx="13"/>
          </p:nvPr>
        </p:nvSpPr>
        <p:spPr/>
        <p:txBody>
          <a:bodyPr/>
          <a:lstStyle/>
          <a:p>
            <a:r>
              <a:rPr lang="en-US" dirty="0"/>
              <a:t>Problem</a:t>
            </a:r>
          </a:p>
        </p:txBody>
      </p:sp>
      <p:sp>
        <p:nvSpPr>
          <p:cNvPr id="7" name="Text Placeholder 6"/>
          <p:cNvSpPr>
            <a:spLocks noGrp="1"/>
          </p:cNvSpPr>
          <p:nvPr>
            <p:ph type="body" sz="quarter" idx="17"/>
          </p:nvPr>
        </p:nvSpPr>
        <p:spPr>
          <a:xfrm>
            <a:off x="1289485" y="19102825"/>
            <a:ext cx="12801600" cy="1219200"/>
          </a:xfrm>
        </p:spPr>
        <p:txBody>
          <a:bodyPr/>
          <a:lstStyle/>
          <a:p>
            <a:r>
              <a:rPr lang="en-US" dirty="0"/>
              <a:t>Project Overview</a:t>
            </a:r>
          </a:p>
        </p:txBody>
      </p:sp>
      <p:sp>
        <p:nvSpPr>
          <p:cNvPr id="70" name="Text Placeholder 69"/>
          <p:cNvSpPr>
            <a:spLocks noGrp="1"/>
          </p:cNvSpPr>
          <p:nvPr>
            <p:ph type="body" sz="quarter" idx="40"/>
          </p:nvPr>
        </p:nvSpPr>
        <p:spPr>
          <a:xfrm>
            <a:off x="15544800" y="5699760"/>
            <a:ext cx="12801600" cy="1219200"/>
          </a:xfrm>
        </p:spPr>
        <p:txBody>
          <a:bodyPr/>
          <a:lstStyle/>
          <a:p>
            <a:r>
              <a:rPr lang="en-US"/>
              <a:t>Procedure</a:t>
            </a:r>
            <a:endParaRPr lang="en-US" dirty="0"/>
          </a:p>
        </p:txBody>
      </p:sp>
      <p:sp>
        <p:nvSpPr>
          <p:cNvPr id="16" name="Text Placeholder 15"/>
          <p:cNvSpPr>
            <a:spLocks noGrp="1"/>
          </p:cNvSpPr>
          <p:nvPr>
            <p:ph type="body" sz="quarter" idx="29"/>
          </p:nvPr>
        </p:nvSpPr>
        <p:spPr>
          <a:xfrm>
            <a:off x="15513829" y="19227623"/>
            <a:ext cx="12801600" cy="1219200"/>
          </a:xfrm>
        </p:spPr>
        <p:txBody>
          <a:bodyPr/>
          <a:lstStyle/>
          <a:p>
            <a:r>
              <a:rPr lang="en-US" dirty="0"/>
              <a:t>Software Design </a:t>
            </a:r>
          </a:p>
        </p:txBody>
      </p:sp>
      <p:sp>
        <p:nvSpPr>
          <p:cNvPr id="18" name="Text Placeholder 17"/>
          <p:cNvSpPr>
            <a:spLocks noGrp="1"/>
          </p:cNvSpPr>
          <p:nvPr>
            <p:ph type="body" sz="quarter" idx="31"/>
          </p:nvPr>
        </p:nvSpPr>
        <p:spPr>
          <a:xfrm>
            <a:off x="29900880" y="5669279"/>
            <a:ext cx="13487400" cy="1362747"/>
          </a:xfrm>
        </p:spPr>
        <p:txBody>
          <a:bodyPr/>
          <a:lstStyle/>
          <a:p>
            <a:r>
              <a:rPr lang="en-US" dirty="0"/>
              <a:t>Implementation / Outcome / Improvements</a:t>
            </a:r>
          </a:p>
        </p:txBody>
      </p:sp>
      <p:sp>
        <p:nvSpPr>
          <p:cNvPr id="71" name="Text Placeholder 70"/>
          <p:cNvSpPr>
            <a:spLocks noGrp="1"/>
          </p:cNvSpPr>
          <p:nvPr>
            <p:ph type="body" sz="quarter" idx="41"/>
          </p:nvPr>
        </p:nvSpPr>
        <p:spPr>
          <a:xfrm>
            <a:off x="29888180" y="19157917"/>
            <a:ext cx="12801600" cy="1219200"/>
          </a:xfrm>
        </p:spPr>
        <p:txBody>
          <a:bodyPr/>
          <a:lstStyle/>
          <a:p>
            <a:r>
              <a:rPr lang="en-US" dirty="0"/>
              <a:t>Our Team</a:t>
            </a:r>
          </a:p>
        </p:txBody>
      </p:sp>
      <p:sp>
        <p:nvSpPr>
          <p:cNvPr id="15" name="Content Placeholder 14"/>
          <p:cNvSpPr>
            <a:spLocks noGrp="1"/>
          </p:cNvSpPr>
          <p:nvPr>
            <p:ph sz="quarter" idx="42"/>
          </p:nvPr>
        </p:nvSpPr>
        <p:spPr>
          <a:xfrm>
            <a:off x="29900880" y="7199421"/>
            <a:ext cx="12801600" cy="12028201"/>
          </a:xfrm>
        </p:spPr>
        <p:txBody>
          <a:bodyPr/>
          <a:lstStyle/>
          <a:p>
            <a:pPr fontAlgn="base"/>
            <a:r>
              <a:rPr lang="en-US" sz="3600" dirty="0" err="1"/>
              <a:t>ctionIn</a:t>
            </a:r>
            <a:r>
              <a:rPr lang="en-US" sz="3600" dirty="0"/>
              <a:t> our project we used IR sensor to for track pathing, ultrasound sensor to measure the water level and detect drain blockage, rain sensor to detect whether it is raining, </a:t>
            </a:r>
            <a:r>
              <a:rPr lang="en-US" sz="3600" dirty="0" err="1"/>
              <a:t>wifi</a:t>
            </a:r>
            <a:r>
              <a:rPr lang="en-US" sz="3600" dirty="0"/>
              <a:t> module to send data to </a:t>
            </a:r>
            <a:r>
              <a:rPr lang="en-US" sz="3600" dirty="0" err="1"/>
              <a:t>thingspeak</a:t>
            </a:r>
            <a:r>
              <a:rPr lang="en-US" sz="3600" dirty="0"/>
              <a:t> and LCD to display the car’s current a and current battery percentage.</a:t>
            </a:r>
          </a:p>
          <a:p>
            <a:pPr fontAlgn="base"/>
            <a:r>
              <a:rPr lang="en-US" sz="3600" dirty="0"/>
              <a:t>Our car is able to follow the track almost perfectly and the ultrasound, </a:t>
            </a:r>
            <a:r>
              <a:rPr lang="en-US" sz="3600" dirty="0" err="1"/>
              <a:t>wifi</a:t>
            </a:r>
            <a:r>
              <a:rPr lang="en-US" sz="3600" dirty="0"/>
              <a:t> module, rain sensor and the LCD display all are working perfectly as we envisioned</a:t>
            </a:r>
          </a:p>
          <a:p>
            <a:pPr fontAlgn="base"/>
            <a:r>
              <a:rPr lang="en-US" sz="3600" dirty="0"/>
              <a:t>Future improvement 1: we would like to properly implement our gear idea that allow the height of the ultrasonic sensor to the ground to be adjusted, to account for more complicated terrains such as slopes.</a:t>
            </a:r>
          </a:p>
          <a:p>
            <a:pPr fontAlgn="base"/>
            <a:r>
              <a:rPr lang="en-US" sz="3600" dirty="0"/>
              <a:t>Future improvement 2: we would like the flood detector to be able to send signals to close door vents of citizen’s housing whenever the flood detector detects blockage/flood.</a:t>
            </a:r>
          </a:p>
          <a:p>
            <a:pPr fontAlgn="base"/>
            <a:endParaRPr lang="en-US" dirty="0"/>
          </a:p>
        </p:txBody>
      </p:sp>
      <p:sp>
        <p:nvSpPr>
          <p:cNvPr id="24" name="Text Placeholder 23"/>
          <p:cNvSpPr>
            <a:spLocks noGrp="1"/>
          </p:cNvSpPr>
          <p:nvPr>
            <p:ph type="body" sz="quarter" idx="21"/>
          </p:nvPr>
        </p:nvSpPr>
        <p:spPr/>
        <p:txBody>
          <a:bodyPr/>
          <a:lstStyle/>
          <a:p>
            <a:r>
              <a:rPr lang="en-SG" dirty="0"/>
              <a:t>Hardware design</a:t>
            </a:r>
          </a:p>
        </p:txBody>
      </p:sp>
      <p:sp>
        <p:nvSpPr>
          <p:cNvPr id="27" name="Content Placeholder 14"/>
          <p:cNvSpPr>
            <a:spLocks noGrp="1"/>
          </p:cNvSpPr>
          <p:nvPr>
            <p:ph sz="quarter" idx="42"/>
          </p:nvPr>
        </p:nvSpPr>
        <p:spPr>
          <a:xfrm>
            <a:off x="29946600" y="20544512"/>
            <a:ext cx="12801600" cy="8590636"/>
          </a:xfrm>
        </p:spPr>
        <p:txBody>
          <a:bodyPr/>
          <a:lstStyle/>
          <a:p>
            <a:r>
              <a:rPr lang="en-US" sz="3600" dirty="0"/>
              <a:t>Raymond: coded </a:t>
            </a:r>
            <a:r>
              <a:rPr lang="en-US" sz="3600" dirty="0" err="1"/>
              <a:t>WifiModule</a:t>
            </a:r>
            <a:r>
              <a:rPr lang="en-US" sz="3600" dirty="0"/>
              <a:t>, coded </a:t>
            </a:r>
            <a:r>
              <a:rPr lang="en-US" sz="3600" dirty="0" err="1"/>
              <a:t>ThingSpeak</a:t>
            </a:r>
            <a:r>
              <a:rPr lang="en-US" sz="3600" dirty="0"/>
              <a:t> alerts, integrated &amp; debugged the codes. Recorded the video, edited the video​. IR Sensor box, integrated hardware together., worked on </a:t>
            </a:r>
            <a:r>
              <a:rPr lang="en-US" sz="3600" dirty="0" err="1"/>
              <a:t>powerpoint</a:t>
            </a:r>
            <a:r>
              <a:rPr lang="en-US" sz="3600" dirty="0"/>
              <a:t> slides.</a:t>
            </a:r>
          </a:p>
          <a:p>
            <a:r>
              <a:rPr lang="en-US" sz="3600" dirty="0" err="1"/>
              <a:t>Jovier</a:t>
            </a:r>
            <a:r>
              <a:rPr lang="en-US" sz="3600" dirty="0"/>
              <a:t>: coded LCD display​, Ultrasonic Sensor box, IR sensor roof laser cut, main box, integrated some hardware together, worked on </a:t>
            </a:r>
            <a:r>
              <a:rPr lang="en-US" sz="3600" dirty="0" err="1"/>
              <a:t>powerpoint</a:t>
            </a:r>
            <a:r>
              <a:rPr lang="en-US" sz="3600" dirty="0"/>
              <a:t> slides​</a:t>
            </a:r>
          </a:p>
          <a:p>
            <a:r>
              <a:rPr lang="en-US" sz="3600" dirty="0"/>
              <a:t>Kannan: ​coded ultrasonic sensor &amp; rain sensor, made Lid for main box (with LCD hole). Troubleshooted hardware parts by using various tools to fit the project, worked on </a:t>
            </a:r>
            <a:r>
              <a:rPr lang="en-US" sz="3600" dirty="0" err="1"/>
              <a:t>powerpoint</a:t>
            </a:r>
            <a:r>
              <a:rPr lang="en-US" sz="3600" dirty="0"/>
              <a:t> slides</a:t>
            </a:r>
          </a:p>
          <a:p>
            <a:r>
              <a:rPr lang="en-US" sz="3600" dirty="0" err="1"/>
              <a:t>Aisar</a:t>
            </a:r>
            <a:r>
              <a:rPr lang="en-US" sz="3600" dirty="0"/>
              <a:t>: path tracking function , slidable and clickable fitting box for rain sensor. Troubleshooted hardware using various tools to fit the project and worked on </a:t>
            </a:r>
            <a:r>
              <a:rPr lang="en-US" sz="3600" dirty="0" err="1"/>
              <a:t>powerpoint</a:t>
            </a:r>
            <a:r>
              <a:rPr lang="en-US" sz="3600" dirty="0"/>
              <a:t> slides</a:t>
            </a:r>
            <a:r>
              <a:rPr lang="en-SG" sz="3600" dirty="0"/>
              <a:t>​​​​​​​​​</a:t>
            </a:r>
            <a:endParaRPr lang="en-US" sz="3600" dirty="0"/>
          </a:p>
        </p:txBody>
      </p:sp>
      <p:sp>
        <p:nvSpPr>
          <p:cNvPr id="26" name="Text Placeholder 66"/>
          <p:cNvSpPr>
            <a:spLocks noGrp="1"/>
          </p:cNvSpPr>
          <p:nvPr>
            <p:ph type="body" sz="quarter" idx="13"/>
          </p:nvPr>
        </p:nvSpPr>
        <p:spPr>
          <a:xfrm>
            <a:off x="1165860" y="10119661"/>
            <a:ext cx="12801600" cy="1280160"/>
          </a:xfrm>
        </p:spPr>
        <p:txBody>
          <a:bodyPr/>
          <a:lstStyle/>
          <a:p>
            <a:r>
              <a:rPr lang="en-US" dirty="0"/>
              <a:t>Idea / Objectives</a:t>
            </a:r>
          </a:p>
        </p:txBody>
      </p:sp>
      <p:sp>
        <p:nvSpPr>
          <p:cNvPr id="3" name="Rectangle 2"/>
          <p:cNvSpPr/>
          <p:nvPr/>
        </p:nvSpPr>
        <p:spPr>
          <a:xfrm>
            <a:off x="1289485" y="11747428"/>
            <a:ext cx="11931532" cy="2308324"/>
          </a:xfrm>
          <a:prstGeom prst="rect">
            <a:avLst/>
          </a:prstGeom>
        </p:spPr>
        <p:txBody>
          <a:bodyPr wrap="square">
            <a:spAutoFit/>
          </a:bodyPr>
          <a:lstStyle/>
          <a:p>
            <a:r>
              <a:rPr lang="en-SG" sz="3600" dirty="0"/>
              <a:t>To create a mobile flood detector that can measure the water level and check for drain blockage, then send the data to the user and alert them when there is flooding or a drain blockage</a:t>
            </a:r>
            <a:r>
              <a:rPr lang="en-SG" sz="3200" dirty="0"/>
              <a:t>.</a:t>
            </a:r>
          </a:p>
        </p:txBody>
      </p:sp>
      <p:sp>
        <p:nvSpPr>
          <p:cNvPr id="19" name="Rectangle 18"/>
          <p:cNvSpPr/>
          <p:nvPr/>
        </p:nvSpPr>
        <p:spPr>
          <a:xfrm>
            <a:off x="1143000" y="7152729"/>
            <a:ext cx="12645799" cy="2326150"/>
          </a:xfrm>
          <a:prstGeom prst="rect">
            <a:avLst/>
          </a:prstGeom>
        </p:spPr>
        <p:txBody>
          <a:bodyPr wrap="square">
            <a:spAutoFit/>
          </a:bodyPr>
          <a:lstStyle/>
          <a:p>
            <a:r>
              <a:rPr lang="en-GB" dirty="0"/>
              <a:t>How can we prevent loss of life from floods?</a:t>
            </a:r>
            <a:endParaRPr lang="en-US" sz="3200" dirty="0"/>
          </a:p>
        </p:txBody>
      </p:sp>
      <p:sp>
        <p:nvSpPr>
          <p:cNvPr id="45" name="Rectangle 44"/>
          <p:cNvSpPr/>
          <p:nvPr/>
        </p:nvSpPr>
        <p:spPr>
          <a:xfrm>
            <a:off x="1726101" y="30155745"/>
            <a:ext cx="10745299" cy="1569660"/>
          </a:xfrm>
          <a:prstGeom prst="rect">
            <a:avLst/>
          </a:prstGeom>
        </p:spPr>
        <p:txBody>
          <a:bodyPr wrap="square">
            <a:spAutoFit/>
          </a:bodyPr>
          <a:lstStyle/>
          <a:p>
            <a:r>
              <a:rPr lang="en-SG" sz="3200" dirty="0">
                <a:solidFill>
                  <a:schemeClr val="bg1"/>
                </a:solidFill>
              </a:rPr>
              <a:t>Class: DCPE/1A/24</a:t>
            </a:r>
          </a:p>
          <a:p>
            <a:endParaRPr lang="en-SG" sz="3200" dirty="0">
              <a:solidFill>
                <a:schemeClr val="bg1"/>
              </a:solidFill>
            </a:endParaRPr>
          </a:p>
          <a:p>
            <a:r>
              <a:rPr lang="en-SG" sz="3200" dirty="0">
                <a:solidFill>
                  <a:schemeClr val="bg1"/>
                </a:solidFill>
              </a:rPr>
              <a:t>Lecturer: Jiang Fan</a:t>
            </a:r>
          </a:p>
        </p:txBody>
      </p:sp>
      <p:sp>
        <p:nvSpPr>
          <p:cNvPr id="46" name="Rectangle 45"/>
          <p:cNvSpPr/>
          <p:nvPr/>
        </p:nvSpPr>
        <p:spPr>
          <a:xfrm>
            <a:off x="12804342" y="30039924"/>
            <a:ext cx="3856653" cy="584775"/>
          </a:xfrm>
          <a:prstGeom prst="rect">
            <a:avLst/>
          </a:prstGeom>
        </p:spPr>
        <p:txBody>
          <a:bodyPr wrap="square">
            <a:spAutoFit/>
          </a:bodyPr>
          <a:lstStyle/>
          <a:p>
            <a:r>
              <a:rPr lang="en-SG" sz="3200" dirty="0">
                <a:solidFill>
                  <a:schemeClr val="bg1"/>
                </a:solidFill>
              </a:rPr>
              <a:t>Student members:</a:t>
            </a:r>
          </a:p>
        </p:txBody>
      </p:sp>
      <p:sp>
        <p:nvSpPr>
          <p:cNvPr id="47" name="Rectangle 46"/>
          <p:cNvSpPr/>
          <p:nvPr/>
        </p:nvSpPr>
        <p:spPr>
          <a:xfrm>
            <a:off x="16993937" y="29963406"/>
            <a:ext cx="16680965" cy="2554545"/>
          </a:xfrm>
          <a:prstGeom prst="rect">
            <a:avLst/>
          </a:prstGeom>
        </p:spPr>
        <p:txBody>
          <a:bodyPr wrap="square">
            <a:spAutoFit/>
          </a:bodyPr>
          <a:lstStyle/>
          <a:p>
            <a:r>
              <a:rPr lang="en-SG" sz="3200" dirty="0">
                <a:solidFill>
                  <a:schemeClr val="bg1"/>
                </a:solidFill>
              </a:rPr>
              <a:t>P2411514 Jovier</a:t>
            </a:r>
          </a:p>
          <a:p>
            <a:r>
              <a:rPr lang="en-SG" sz="3200" dirty="0">
                <a:solidFill>
                  <a:schemeClr val="bg1"/>
                </a:solidFill>
              </a:rPr>
              <a:t>P2519777 Raymond</a:t>
            </a:r>
          </a:p>
          <a:p>
            <a:r>
              <a:rPr lang="en-SG" sz="3200" dirty="0">
                <a:solidFill>
                  <a:schemeClr val="bg1"/>
                </a:solidFill>
              </a:rPr>
              <a:t>P2409883 Kannan</a:t>
            </a:r>
          </a:p>
          <a:p>
            <a:r>
              <a:rPr lang="en-SG" sz="3200" dirty="0">
                <a:solidFill>
                  <a:schemeClr val="bg1"/>
                </a:solidFill>
              </a:rPr>
              <a:t>P2410597 </a:t>
            </a:r>
            <a:r>
              <a:rPr lang="en-SG" sz="3200" dirty="0" err="1">
                <a:solidFill>
                  <a:schemeClr val="bg1"/>
                </a:solidFill>
              </a:rPr>
              <a:t>Aisar</a:t>
            </a:r>
            <a:endParaRPr lang="en-SG" sz="3200" dirty="0">
              <a:solidFill>
                <a:schemeClr val="bg1"/>
              </a:solidFill>
            </a:endParaRPr>
          </a:p>
          <a:p>
            <a:endParaRPr lang="en-SG" sz="3200" dirty="0">
              <a:solidFill>
                <a:schemeClr val="bg1"/>
              </a:solidFill>
            </a:endParaRPr>
          </a:p>
        </p:txBody>
      </p:sp>
      <p:sp>
        <p:nvSpPr>
          <p:cNvPr id="49" name="Rectangle 48"/>
          <p:cNvSpPr/>
          <p:nvPr/>
        </p:nvSpPr>
        <p:spPr>
          <a:xfrm>
            <a:off x="584200" y="244332"/>
            <a:ext cx="17018000" cy="707886"/>
          </a:xfrm>
          <a:prstGeom prst="rect">
            <a:avLst/>
          </a:prstGeom>
        </p:spPr>
        <p:txBody>
          <a:bodyPr wrap="square">
            <a:spAutoFit/>
          </a:bodyPr>
          <a:lstStyle/>
          <a:p>
            <a:r>
              <a:rPr lang="en-SG" sz="4000" dirty="0">
                <a:solidFill>
                  <a:schemeClr val="bg1"/>
                </a:solidFill>
              </a:rPr>
              <a:t> </a:t>
            </a:r>
            <a:r>
              <a:rPr lang="en-US" sz="4000" dirty="0">
                <a:solidFill>
                  <a:schemeClr val="bg1"/>
                </a:solidFill>
              </a:rPr>
              <a:t>ET1015/ET1024 Introduction to Engineering &amp; Design</a:t>
            </a:r>
            <a:endParaRPr lang="en-SG" sz="4000" dirty="0">
              <a:solidFill>
                <a:schemeClr val="bg1"/>
              </a:solidFill>
            </a:endParaRPr>
          </a:p>
        </p:txBody>
      </p:sp>
      <p:sp>
        <p:nvSpPr>
          <p:cNvPr id="51" name="Title 3"/>
          <p:cNvSpPr>
            <a:spLocks noGrp="1"/>
          </p:cNvSpPr>
          <p:nvPr>
            <p:ph type="title"/>
          </p:nvPr>
        </p:nvSpPr>
        <p:spPr>
          <a:xfrm>
            <a:off x="584200" y="1646146"/>
            <a:ext cx="33090702" cy="2702792"/>
          </a:xfrm>
        </p:spPr>
        <p:txBody>
          <a:bodyPr>
            <a:normAutofit fontScale="90000"/>
          </a:bodyPr>
          <a:lstStyle/>
          <a:p>
            <a:r>
              <a:rPr lang="en-US" sz="9600" dirty="0"/>
              <a:t>Mobile Monitoring System for Climate-Responsive Environments</a:t>
            </a:r>
          </a:p>
        </p:txBody>
      </p:sp>
      <p:sp>
        <p:nvSpPr>
          <p:cNvPr id="2" name="AutoShape 2">
            <a:extLst>
              <a:ext uri="{FF2B5EF4-FFF2-40B4-BE49-F238E27FC236}">
                <a16:creationId xmlns:a16="http://schemas.microsoft.com/office/drawing/2014/main" id="{1B39203E-D1E9-C875-052D-29E823DBFB8E}"/>
              </a:ext>
            </a:extLst>
          </p:cNvPr>
          <p:cNvSpPr>
            <a:spLocks noChangeAspect="1" noChangeArrowheads="1"/>
          </p:cNvSpPr>
          <p:nvPr/>
        </p:nvSpPr>
        <p:spPr bwMode="auto">
          <a:xfrm>
            <a:off x="21793200" y="16306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sp>
        <p:nvSpPr>
          <p:cNvPr id="4" name="AutoShape 4">
            <a:extLst>
              <a:ext uri="{FF2B5EF4-FFF2-40B4-BE49-F238E27FC236}">
                <a16:creationId xmlns:a16="http://schemas.microsoft.com/office/drawing/2014/main" id="{6D9E0829-BEB6-6B2E-EDDD-3DB235AD42FA}"/>
              </a:ext>
            </a:extLst>
          </p:cNvPr>
          <p:cNvSpPr>
            <a:spLocks noChangeAspect="1" noChangeArrowheads="1"/>
          </p:cNvSpPr>
          <p:nvPr/>
        </p:nvSpPr>
        <p:spPr bwMode="auto">
          <a:xfrm>
            <a:off x="15071839" y="9440779"/>
            <a:ext cx="7273382" cy="727338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pic>
        <p:nvPicPr>
          <p:cNvPr id="9" name="Content Placeholder 8">
            <a:extLst>
              <a:ext uri="{FF2B5EF4-FFF2-40B4-BE49-F238E27FC236}">
                <a16:creationId xmlns:a16="http://schemas.microsoft.com/office/drawing/2014/main" id="{01A866B3-4AF5-387D-881F-E40BFA9448EB}"/>
              </a:ext>
            </a:extLst>
          </p:cNvPr>
          <p:cNvPicPr>
            <a:picLocks noGrp="1" noChangeAspect="1"/>
          </p:cNvPicPr>
          <p:nvPr>
            <p:ph sz="quarter" idx="30"/>
          </p:nvPr>
        </p:nvPicPr>
        <p:blipFill>
          <a:blip r:embed="rId3" cstate="print">
            <a:extLst>
              <a:ext uri="{28A0092B-C50C-407E-A947-70E740481C1C}">
                <a14:useLocalDpi xmlns:a14="http://schemas.microsoft.com/office/drawing/2010/main" val="0"/>
              </a:ext>
            </a:extLst>
          </a:blip>
          <a:stretch>
            <a:fillRect/>
          </a:stretch>
        </p:blipFill>
        <p:spPr>
          <a:xfrm>
            <a:off x="18581488" y="7305978"/>
            <a:ext cx="5992512" cy="7990017"/>
          </a:xfrm>
          <a:prstGeom prst="rect">
            <a:avLst/>
          </a:prstGeom>
        </p:spPr>
      </p:pic>
      <p:pic>
        <p:nvPicPr>
          <p:cNvPr id="33" name="Content Placeholder 32">
            <a:extLst>
              <a:ext uri="{FF2B5EF4-FFF2-40B4-BE49-F238E27FC236}">
                <a16:creationId xmlns:a16="http://schemas.microsoft.com/office/drawing/2014/main" id="{4B6713B7-5E1F-5D93-83B9-F6910807730A}"/>
              </a:ext>
            </a:extLst>
          </p:cNvPr>
          <p:cNvPicPr>
            <a:picLocks noGrp="1" noChangeAspect="1"/>
          </p:cNvPicPr>
          <p:nvPr>
            <p:ph sz="quarter" idx="30"/>
          </p:nvPr>
        </p:nvPicPr>
        <p:blipFill>
          <a:blip r:embed="rId4">
            <a:extLst>
              <a:ext uri="{28A0092B-C50C-407E-A947-70E740481C1C}">
                <a14:useLocalDpi xmlns:a14="http://schemas.microsoft.com/office/drawing/2010/main" val="0"/>
              </a:ext>
            </a:extLst>
          </a:blip>
          <a:srcRect l="14571" t="-2998" r="30045" b="426"/>
          <a:stretch>
            <a:fillRect/>
          </a:stretch>
        </p:blipFill>
        <p:spPr>
          <a:xfrm>
            <a:off x="16184058" y="20431099"/>
            <a:ext cx="3309247" cy="8704049"/>
          </a:xfrm>
          <a:prstGeom prst="rect">
            <a:avLst/>
          </a:prstGeom>
        </p:spPr>
      </p:pic>
      <p:pic>
        <p:nvPicPr>
          <p:cNvPr id="35" name="Picture 34">
            <a:extLst>
              <a:ext uri="{FF2B5EF4-FFF2-40B4-BE49-F238E27FC236}">
                <a16:creationId xmlns:a16="http://schemas.microsoft.com/office/drawing/2014/main" id="{DD06D5F8-5C12-425B-9B0E-80FC8E7170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571695" y="20653586"/>
            <a:ext cx="8113132" cy="4579717"/>
          </a:xfrm>
          <a:prstGeom prst="rect">
            <a:avLst/>
          </a:prstGeom>
        </p:spPr>
      </p:pic>
      <p:pic>
        <p:nvPicPr>
          <p:cNvPr id="39" name="Picture 38">
            <a:extLst>
              <a:ext uri="{FF2B5EF4-FFF2-40B4-BE49-F238E27FC236}">
                <a16:creationId xmlns:a16="http://schemas.microsoft.com/office/drawing/2014/main" id="{1B2F19A1-9C27-E15D-7FC4-336F1262902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901075" y="25395074"/>
            <a:ext cx="7305014" cy="4108106"/>
          </a:xfrm>
          <a:prstGeom prst="rect">
            <a:avLst/>
          </a:prstGeom>
        </p:spPr>
      </p:pic>
      <p:sp>
        <p:nvSpPr>
          <p:cNvPr id="48" name="AutoShape 34">
            <a:extLst>
              <a:ext uri="{FF2B5EF4-FFF2-40B4-BE49-F238E27FC236}">
                <a16:creationId xmlns:a16="http://schemas.microsoft.com/office/drawing/2014/main" id="{A03516E8-735D-5941-8105-6D81E0469869}"/>
              </a:ext>
            </a:extLst>
          </p:cNvPr>
          <p:cNvSpPr>
            <a:spLocks noChangeAspect="1" noChangeArrowheads="1"/>
          </p:cNvSpPr>
          <p:nvPr/>
        </p:nvSpPr>
        <p:spPr bwMode="auto">
          <a:xfrm>
            <a:off x="21945600" y="16459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pic>
        <p:nvPicPr>
          <p:cNvPr id="52" name="Picture 51">
            <a:extLst>
              <a:ext uri="{FF2B5EF4-FFF2-40B4-BE49-F238E27FC236}">
                <a16:creationId xmlns:a16="http://schemas.microsoft.com/office/drawing/2014/main" id="{7BAD36AB-9238-3B4C-FDB4-01CEE8F71956}"/>
              </a:ext>
            </a:extLst>
          </p:cNvPr>
          <p:cNvPicPr>
            <a:picLocks noChangeAspect="1"/>
          </p:cNvPicPr>
          <p:nvPr/>
        </p:nvPicPr>
        <p:blipFill>
          <a:blip r:embed="rId7"/>
          <a:stretch>
            <a:fillRect/>
          </a:stretch>
        </p:blipFill>
        <p:spPr>
          <a:xfrm>
            <a:off x="1283863" y="20611298"/>
            <a:ext cx="12651622" cy="7116537"/>
          </a:xfrm>
          <a:prstGeom prst="rect">
            <a:avLst/>
          </a:prstGeom>
        </p:spPr>
      </p:pic>
      <p:pic>
        <p:nvPicPr>
          <p:cNvPr id="56" name="Picture 55">
            <a:extLst>
              <a:ext uri="{FF2B5EF4-FFF2-40B4-BE49-F238E27FC236}">
                <a16:creationId xmlns:a16="http://schemas.microsoft.com/office/drawing/2014/main" id="{DC839DA6-1C46-467F-649D-B50C0121565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631179" y="15541427"/>
            <a:ext cx="7893130" cy="3583998"/>
          </a:xfrm>
          <a:prstGeom prst="rect">
            <a:avLst/>
          </a:prstGeom>
        </p:spPr>
      </p:pic>
    </p:spTree>
    <p:extLst>
      <p:ext uri="{BB962C8B-B14F-4D97-AF65-F5344CB8AC3E}">
        <p14:creationId xmlns:p14="http://schemas.microsoft.com/office/powerpoint/2010/main" val="947107746"/>
      </p:ext>
    </p:extLst>
  </p:cSld>
  <p:clrMapOvr>
    <a:masterClrMapping/>
  </p:clrMapOvr>
</p:sld>
</file>

<file path=ppt/theme/theme1.xml><?xml version="1.0" encoding="utf-8"?>
<a:theme xmlns:a="http://schemas.openxmlformats.org/drawingml/2006/main" name="Science Poster">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tlCol="0" anchor="ctr"/>
      <a:lstStyle>
        <a:defPPr algn="ctr">
          <a:defRPr sz="6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6000" dirty="0" err="1" smtClean="0"/>
        </a:defPPr>
      </a:lstStyle>
    </a:txDef>
  </a:objectDefaults>
  <a:extraClrSchemeLst/>
  <a:extLst>
    <a:ext uri="{05A4C25C-085E-4340-85A3-A5531E510DB2}">
      <thm15:themeFamily xmlns:thm15="http://schemas.microsoft.com/office/thememl/2012/main" name="Presentation2" id="{A3AC1795-03CA-4218-8E9C-394F2C72EB71}" vid="{9E91E023-53D0-48CE-AFD1-CE3DA49243D0}"/>
    </a:ext>
  </a:extLst>
</a:theme>
</file>

<file path=ppt/theme/theme2.xml><?xml version="1.0" encoding="utf-8"?>
<a:theme xmlns:a="http://schemas.openxmlformats.org/drawingml/2006/main" name="Office Theme">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318</TotalTime>
  <Words>389</Words>
  <Application>Microsoft Office PowerPoint</Application>
  <PresentationFormat>Custom</PresentationFormat>
  <Paragraphs>29</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Science Poster</vt:lpstr>
      <vt:lpstr>Mobile Monitoring System for Climate-Responsive Environments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Project Title</dc:title>
  <dc:creator>Chew Lin CHIA (SP)</dc:creator>
  <cp:lastModifiedBy>RAYMOND SIM TECK JUN</cp:lastModifiedBy>
  <cp:revision>30</cp:revision>
  <dcterms:created xsi:type="dcterms:W3CDTF">2013-01-20T21:20:28Z</dcterms:created>
  <dcterms:modified xsi:type="dcterms:W3CDTF">2026-06-14T02:53:18Z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0x0101007C1D5F340F01F94FA2FD29A5E6DC872E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y fmtid="{D5CDD505-2E9C-101B-9397-08002B2CF9AE}" pid="8" name="MSIP_Label_4358816f-90be-41b8-babc-1a38499c586d_Enabled">
    <vt:lpwstr>true</vt:lpwstr>
  </property>
  <property fmtid="{D5CDD505-2E9C-101B-9397-08002B2CF9AE}" pid="9" name="MSIP_Label_4358816f-90be-41b8-babc-1a38499c586d_SetDate">
    <vt:lpwstr>2023-01-20T03:14:25Z</vt:lpwstr>
  </property>
  <property fmtid="{D5CDD505-2E9C-101B-9397-08002B2CF9AE}" pid="10" name="MSIP_Label_4358816f-90be-41b8-babc-1a38499c586d_Method">
    <vt:lpwstr>Privileged</vt:lpwstr>
  </property>
  <property fmtid="{D5CDD505-2E9C-101B-9397-08002B2CF9AE}" pid="11" name="MSIP_Label_4358816f-90be-41b8-babc-1a38499c586d_Name">
    <vt:lpwstr>Non-Sensitive</vt:lpwstr>
  </property>
  <property fmtid="{D5CDD505-2E9C-101B-9397-08002B2CF9AE}" pid="12" name="MSIP_Label_4358816f-90be-41b8-babc-1a38499c586d_SiteId">
    <vt:lpwstr>7604ff02-abd8-45db-8cac-550054323fc9</vt:lpwstr>
  </property>
  <property fmtid="{D5CDD505-2E9C-101B-9397-08002B2CF9AE}" pid="13" name="MSIP_Label_4358816f-90be-41b8-babc-1a38499c586d_ActionId">
    <vt:lpwstr>a257003b-bc4e-40ef-826a-df02ba4d99ed</vt:lpwstr>
  </property>
  <property fmtid="{D5CDD505-2E9C-101B-9397-08002B2CF9AE}" pid="14" name="MSIP_Label_4358816f-90be-41b8-babc-1a38499c586d_ContentBits">
    <vt:lpwstr>1</vt:lpwstr>
  </property>
</Properties>
</file>